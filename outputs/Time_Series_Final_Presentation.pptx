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Forecasting Volatility for a Short-Vol Strategy on USO</a:t>
            </a:r>
          </a:p>
          <a:p>
            <a:pPr algn="l"/>
            <a:r>
              <a:rPr sz="2200">
                <a:solidFill>
                  <a:srgbClr val="CDD9E8"/>
                </a:solidFill>
                <a:latin typeface="Calibri"/>
              </a:rPr>
              <a:t>EWMA, Rolling GARCH(1,1), and a COT Positioning Filter</a:t>
            </a:r>
          </a:p>
          <a:p>
            <a:pPr algn="l">
              <a:spcBef>
                <a:spcPts val="3600"/>
              </a:spcBef>
            </a:pPr>
            <a:r>
              <a:rPr sz="1600">
                <a:solidFill>
                  <a:srgbClr val="AEC0D8"/>
                </a:solidFill>
                <a:latin typeface="Calibri"/>
              </a:rPr>
              <a:t>Time Series Econometrics  ·  MSQF  ·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1.  Project overview and motivation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2.  Data sources (Bloomberg + CFTC + options vendor)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3.  Strategy design — short ATM straddle, hedge, stop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4.  Time series methods — EWMA and rolling GARCH(1,1)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5.  Layer 1 (EWMA) and Layer 2 (GARCH) results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6.  Robustness tests — windows, refit, thresholds, subperiods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7.  COT positioning as an exploratory risk filter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8.  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Project Overview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Connecting volatility forecasting to a tradable P&amp;L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Goal: build a disciplined short-volatility strategy on the USO oil ETF, with timing driven by time-series volatility forecasts.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Core question: does forecasting realized volatility (EWMA / GARCH) and comparing it to implied volatility produce a persistent edge?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Three-layer build: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Layer 1 — short ATM straddle baseline with an EWMA-based timing filter.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Layer 2 — replace EWMA with a rolling GARCH(1,1) forecast.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Layer 3 — add a COT positioning veto as an exploratory risk filter.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Time series methods are the heart of the project — option strategy is the vehicle through which the forecast quality is measured.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Short Volatility on USO?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Persistent vol risk premium meets a regime-shifting underlying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Crude oil volatility carries a persistent risk premium: implied vol tends to exceed realized vol on average, especially in calm regimes.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USO is a liquid, listed-options vehicle on WTI exposure — accessible without a futures account, and with publicly available chains.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Oil is heavily news-driven (OPEC, geopolitics, refinery cycles). Vol forecasting is hard precisely because of regime shifts — which makes it a real test of EWMA vs GARCH.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Key challenge: short straddles are short gamma and short vega. Without timing, premium collected in calm years is given back in spike years (Russia/Ukraine 2022, Iran/Israel 2024).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Practical use: a vol-selling sleeve in a multi-strategy book, sized small, with disciplined entry filters and stop-losses to cap tail trades.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Sources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Three independent sources stitched on a daily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WTI / USO price data — Bloomberg BDH: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CL1, CL2, CO1, OVX, USO close/bid/ask/volume; 2010-01-05 → 2026-04-10.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Backtest restricted to 2020-05-04 → 2026-04-10 (post 1-for-8 USO reverse split).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COT positioning — CFTC weekly disaggregated report via Bloomberg: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Managed Money (MM) and Non-Commercial (NC) net positioning, Total OI.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Tuesday positioning, released Friday — we apply a 7-day lag to avoid look-ahead.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USO option chains — external vendor: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28 quarterly CSVs; ~2,015,055 rows of bid/ask/IV/Greeks across all strikes/expiries.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Filtered to bid ≥ 0, ask &gt; 0, post-split window.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Mid prices = (bid + ask) / 2; mid IV = (iv_bid + iv_ask) / 2.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Cleaning choices: post-split alignment, drop quote-stale rows, EWMA seed = sample variance of first 20 returns to limit warm-up bias.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Strategy Design — Short ATM Straddle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Monthly cadence, defined exit rules, explicit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On entry day, sell 1 ATM call + 1 ATM put with ~30 DTE (21–45 day window).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Premium received at the bid; daily MTM at the mid; exit at the ask.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1 contract = 100 shares of underlying.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Entry pacing: re-enter every ~21 trading days (no overlapping trades).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Exit: 5 trading days before expiry, or on stop-loss.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Stop-loss rule: exit if straddle ask ≥ 2× initial premium received.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Hedge: daily rebalance of USO shares to delta-neutral (when enabled).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Transaction costs: 5 bps on USO notional traded for hedge rebalances; bid/ask slippage already captured in entry/exit prices.</a:t>
            </a:r>
          </a:p>
        </p:txBody>
      </p:sp>
      <p:pic>
        <p:nvPicPr>
          <p:cNvPr id="4" name="Picture 3" descr="01_underlying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135" y="1097280"/>
            <a:ext cx="6400800" cy="23275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Strategy Design — Entry Filter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Trade only when implied vol is rich relative to the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Conditional entry: only sell vol when implied is rich vs forecasted realized.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Filter rule:    IV(ATM) / σ̂_forecast &gt; threshold (default 1.10).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EWMA branch (Layer 1): σ̂ from λ = 0.94 EWMA of daily log returns.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GARCH branch (Layer 2): σ̂ from rolling GARCH(1,1) one-step forecast.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Same backtest engine for both — only the forecast series changes.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Threshold &gt; 1 keeps trades only when IV looks ≥ 10% above forecasted realized vol (i.e. options are rich), which is the structural source of edge.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Strategies tested across the project: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A — naked straddle, no filter      (B + delta hedge)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C — EWMA filter, no hedge          (D + hedge + stop)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E — GARCH filter, no hedge          (F + hedge + stop)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G — F + COT positioning veto  (Layer 3 exploratory)</a:t>
            </a:r>
          </a:p>
        </p:txBody>
      </p:sp>
      <p:pic>
        <p:nvPicPr>
          <p:cNvPr id="4" name="Picture 3" descr="03_iv_vs_ew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135" y="1097280"/>
            <a:ext cx="6400800" cy="23275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Time Series Method 1 — EWMA Volatility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Recursive smoother — simple, stable, but not mean-reverting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RiskMetrics-style EWMA on daily log returns: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σ²_t  =  λ · σ²_{t−1}  +  (1 − λ) · r²_t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λ = 0.94 (RiskMetrics default; ~75-day half-life).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Seeded with the sample variance of the first 20 returns to avoid warm-up bias.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Strengths: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Single parameter, fully recursive, no estimation step → robust and stable.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No forecast distribution assumption — purely a smoothing filter.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Weaknesses: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Cannot mean-revert: forecast slowly trails realized after a spike.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No conditional fat-tail or persistence parameter — one number for everything.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Use here: the published Layer 1 baseline filter.</a:t>
            </a:r>
          </a:p>
        </p:txBody>
      </p:sp>
      <p:pic>
        <p:nvPicPr>
          <p:cNvPr id="4" name="Picture 3" descr="02_ewma_realized_v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135" y="1097280"/>
            <a:ext cx="6400800" cy="23275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Time Series Method 2 — Rolling GARCH(1,1)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Rolling refit captures regime shifts with a 1-step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Standard GARCH(1,1) on daily log returns (zero-mean, normal innovations):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σ²_t = ω + α · r²_{t−1} + β · σ²_{t−1}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Rolling estimation: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Fit window = 252 trading days (~1 year).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Refit every 21 trading days (~monthly).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Forecast horizon = 1 day, used at trade-decision time.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Estimation as of t uses returns through t−1 only — no look-ahead.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Why GARCH for short-vol timing: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Captures volatility clustering and mean reversion explicitly.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Reacts to a vol spike without permanently re-leveling like EWMA.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Provides a richer conditional model — α + β captures persistence.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Implemented with the `arch` package; returns rescaled by 100 for fit stability.</a:t>
            </a:r>
          </a:p>
        </p:txBody>
      </p:sp>
      <p:pic>
        <p:nvPicPr>
          <p:cNvPr id="4" name="Picture 3" descr="08_forecast_comparison_ewma_vs_g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135" y="1097280"/>
            <a:ext cx="6400800" cy="2618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EWMA vs GARCH — Forecast Signal Comparison</a:t>
            </a:r>
          </a:p>
        </p:txBody>
      </p:sp>
      <p:pic>
        <p:nvPicPr>
          <p:cNvPr id="3" name="Picture 2" descr="08_forecast_comparison_ewma_vs_g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51560"/>
            <a:ext cx="10515600" cy="43018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555"/>
                </a:solidFill>
                <a:latin typeface="Calibri"/>
              </a:rPr>
              <a:t>Both forecasts track realized vol; GARCH mean-reverts faster after spikes, producing fewer but more selective entries.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Layer 1 Results — EWMA Baseline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Sample: 2020-05-04 → 2026-04-10 · 1 contract per trade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441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16"/>
                <a:gridCol w="1584916"/>
                <a:gridCol w="1584916"/>
                <a:gridCol w="1584916"/>
                <a:gridCol w="1584916"/>
                <a:gridCol w="1584916"/>
                <a:gridCol w="1584919"/>
              </a:tblGrid>
              <a:tr h="50292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Trades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Total P&amp;L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Max DD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Worst Trade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Win %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 — naked straddle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−$2,378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−$5,069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−$3,375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 — + delta hedge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−$4,961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−0.33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−$8,643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−$6,144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64.9%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 — + EWMA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−$4,700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−$2,865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D — + hedge + filter + stop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+$557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+0.05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−$4,859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−$1,668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58.6%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22222"/>
                </a:solidFill>
                <a:latin typeface="Calibri"/>
              </a:rPr>
              <a:t>Naked + unconditional selling loses money (A, B).</a:t>
            </a:r>
          </a:p>
          <a:p>
            <a:pPr/>
            <a:r>
              <a:rPr sz="1500">
                <a:solidFill>
                  <a:srgbClr val="222222"/>
                </a:solidFill>
                <a:latin typeface="Calibri"/>
              </a:rPr>
              <a:t>Delta hedging alone makes things worse — it converts gamma into realised P&amp;L without a timing edge to offset it.</a:t>
            </a:r>
          </a:p>
          <a:p>
            <a:pPr/>
            <a:r>
              <a:rPr sz="1500">
                <a:solidFill>
                  <a:srgbClr val="222222"/>
                </a:solidFill>
                <a:latin typeface="Calibri"/>
              </a:rPr>
              <a:t>EWMA filter is the main improvement: skipping the worst 16 trades flips the Sharpe from −0.28 to ≈ 0; adding a stop-loss tightens the worst trade by 50%.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Layer 2 Results — GARCH Extension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Same engine, mechanics, hedge, and stop — only the forecast changes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441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16"/>
                <a:gridCol w="1584916"/>
                <a:gridCol w="1584916"/>
                <a:gridCol w="1584916"/>
                <a:gridCol w="1584916"/>
                <a:gridCol w="1584916"/>
                <a:gridCol w="1584919"/>
              </a:tblGrid>
              <a:tr h="50292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Trades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Total P&amp;L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Max DD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Worst Trade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Win %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 — EWMA + hedge + 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+$557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−$4,859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−$1,668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 — GARCH filter, no hedge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+$1,587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+0.22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−$3,621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−$3,359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76.6%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F — GARCH + hedge + stop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+$4,987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+0.53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−$2,360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−$1,676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70.2%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42900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22222"/>
                </a:solidFill>
                <a:latin typeface="Calibri"/>
              </a:rPr>
              <a:t>GARCH cuts trade count by ~20% by being more selective in calm regimes.</a:t>
            </a:r>
          </a:p>
          <a:p>
            <a:pPr/>
            <a:r>
              <a:rPr sz="1500">
                <a:solidFill>
                  <a:srgbClr val="222222"/>
                </a:solidFill>
                <a:latin typeface="Calibri"/>
              </a:rPr>
              <a:t>Sharpe rises 10× over EWMA-D; max drawdown halves; worst trade is comparable.</a:t>
            </a:r>
          </a:p>
          <a:p>
            <a:pPr/>
            <a:r>
              <a:rPr sz="1500">
                <a:solidFill>
                  <a:srgbClr val="222222"/>
                </a:solidFill>
                <a:latin typeface="Calibri"/>
              </a:rPr>
              <a:t>F is the headline result of the project: hedge + stop + GARCH timing.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Cumulative P&amp;L — All Methods</a:t>
            </a:r>
          </a:p>
        </p:txBody>
      </p:sp>
      <p:pic>
        <p:nvPicPr>
          <p:cNvPr id="3" name="Picture 2" descr="09_cumulative_pnl_all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51560"/>
            <a:ext cx="105156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555"/>
                </a:solidFill>
                <a:latin typeface="Calibri"/>
              </a:rPr>
              <a:t>GARCH-timed strategies (E, F) extend the equity curve through 2024–25 where EWMA-timed strategies stall.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Drawdown Comparison</a:t>
            </a:r>
          </a:p>
        </p:txBody>
      </p:sp>
      <p:pic>
        <p:nvPicPr>
          <p:cNvPr id="3" name="Picture 2" descr="10_drawdown_all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51560"/>
            <a:ext cx="10515600" cy="47798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555"/>
                </a:solidFill>
                <a:latin typeface="Calibri"/>
              </a:rPr>
              <a:t>Hedged + GARCH (F) keeps the deepest drawdown at ~$2,400 vs ~$8,600 for the naked hedged baseline (B).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Robustness — GARCH Fit Window × Refit Frequency</a:t>
            </a:r>
          </a:p>
        </p:txBody>
      </p:sp>
      <p:pic>
        <p:nvPicPr>
          <p:cNvPr id="3" name="Picture 2" descr="14_robustness_garch_fit_re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51560"/>
            <a:ext cx="10515600" cy="21374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555"/>
                </a:solidFill>
                <a:latin typeface="Calibri"/>
              </a:rPr>
              <a:t>Sharpe stable across most W × R cells. Failure mode: short window (W=126) + frequent refits (R=5) overfits the recent regime.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Robustness — Entry Threshold × Stop-Loss Multiple</a:t>
            </a:r>
          </a:p>
        </p:txBody>
      </p:sp>
      <p:pic>
        <p:nvPicPr>
          <p:cNvPr id="3" name="Picture 2" descr="13_robustness_garch_threshold_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51560"/>
            <a:ext cx="10515600" cy="21374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555"/>
                </a:solidFill>
                <a:latin typeface="Calibri"/>
              </a:rPr>
              <a:t>At W=252 / R=21, Sharpe is positive across nearly all (threshold × stop) cells — the baseline is not a single lucky setting.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Robustness — Subperiod Performance</a:t>
            </a:r>
          </a:p>
        </p:txBody>
      </p:sp>
      <p:pic>
        <p:nvPicPr>
          <p:cNvPr id="3" name="Picture 2" descr="16_robustness_subperi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51560"/>
            <a:ext cx="10515600" cy="21450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55555"/>
                </a:solidFill>
                <a:latin typeface="Calibri"/>
              </a:rPr>
              <a:t>GARCH-default is positive in every subperiod; EWMA-default is propped up by 2022–23 alone and negative in 2024–26.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Robustness — What the Tests Tell Us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The headline GARCH result survives sensible perturbations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108-cell GARCH grid: fit window {126, 252, 504} × refit {5, 21, 63} × threshold {1.05, 1.10, 1.15, 1.20} × stop {1.5, 2.0, 2.5}.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Sharpe distribution: mean +0.17, median +0.23, range −0.71 to +0.77.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68% of cells are profitable; 19/108 beat the published 0.53.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Default cell sits inside the bulk, not at an extreme.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EWMA grid (36 cells) is bimodal-flat: median Sharpe ≈ 0.04, max 0.45.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Confirms GARCH dominates EWMA across the parameter space, not at one point.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Subperiod splits show GARCH is positive in 2020–21, 2022–23, and 2024–26;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EWMA is negative in 2020–21 and 2024–26 — its full-sample 0.05 leans on 2022–23 alone.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Bottom line: the GARCH result is structurally stable, not a parameter artefact.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COT Positioning — Exploratory Risk Filter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Net positioning, rolling z-score, and the resulting veto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CFTC weekly disaggregated report: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Managed Money (MM) Net / OI — speculator positioning.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Non-Commercial (NC) Net / OI — broader speculator class.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Hypothesis: do not sell vol when speculators are extremely short.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Crowded short positioning has historically preceded sharp vol expansions.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Construction: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Rolling 104-week z-score of MM and NC Net / OI.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Risk-off veto if MM-z OR NC-z &lt; threshold.</a:t>
            </a:r>
          </a:p>
          <a:p>
            <a:pPr lvl="1"/>
            <a:r>
              <a:rPr sz="1600">
                <a:solidFill>
                  <a:srgbClr val="222222"/>
                </a:solidFill>
                <a:latin typeface="Calibri"/>
              </a:rPr>
              <a:t>7-day release lag applied — uses only reports public by trade date.</a:t>
            </a:r>
          </a:p>
          <a:p>
            <a:pPr/>
            <a:r>
              <a:rPr sz="1800">
                <a:solidFill>
                  <a:srgbClr val="222222"/>
                </a:solidFill>
                <a:latin typeface="Calibri"/>
              </a:rPr>
              <a:t>Layer 3 strategy G = Layer 2 strategy F + COT veto.</a:t>
            </a:r>
          </a:p>
        </p:txBody>
      </p:sp>
      <p:pic>
        <p:nvPicPr>
          <p:cNvPr id="4" name="Picture 3" descr="17_cot_features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135" y="1097280"/>
            <a:ext cx="6400800" cy="42175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Layer 3 Result — COT Filter (Exploratory)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No COT cell beats the unfiltered GARCH baseline (Sharpe 0.53)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441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16"/>
                <a:gridCol w="1584916"/>
                <a:gridCol w="1584916"/>
                <a:gridCol w="1584916"/>
                <a:gridCol w="1584916"/>
                <a:gridCol w="1584916"/>
                <a:gridCol w="1584919"/>
              </a:tblGrid>
              <a:tr h="50292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z-window (w)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risk-off z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veto %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Trades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Total P&amp;L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Max DD</a:t>
                      </a:r>
                    </a:p>
                  </a:txBody>
                  <a:tcPr>
                    <a:solidFill>
                      <a:srgbClr val="0B2A5B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+$2,982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−$3,235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−1.5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+$1,727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+0.20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−$2,772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+$564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−$3,069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−1.5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+$3,769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+0.39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−$3,414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+$1,244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−$4,997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−1.5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+$1,912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+0.23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−$2,604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50292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F (no COT) — baseline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+$4,987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+0.53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</a:rPr>
                        <a:t>−$2,360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4406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22222"/>
                </a:solidFill>
                <a:latin typeface="Calibri"/>
              </a:rPr>
              <a:t>Filter throws away enough good trades that gross premium collected falls more than it cuts losers — net Sharpe drops in every cell.</a:t>
            </a:r>
          </a:p>
          <a:p>
            <a:pPr/>
            <a:r>
              <a:rPr sz="1500">
                <a:solidFill>
                  <a:srgbClr val="222222"/>
                </a:solidFill>
                <a:latin typeface="Calibri"/>
              </a:rPr>
              <a:t>Honest negative result: with this construction, COT positioning is orthogonal to the GARCH IV-vs-realized signal but not additive on top of it.</a:t>
            </a:r>
          </a:p>
          <a:p>
            <a:pPr/>
            <a:r>
              <a:rPr sz="1500">
                <a:solidFill>
                  <a:srgbClr val="222222"/>
                </a:solidFill>
                <a:latin typeface="Calibri"/>
              </a:rPr>
              <a:t>Reported as exploratory rather than production — sensitivity grid is the main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Limitations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Where the result is fragile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Capital and margin: short straddles are short gamma and short vega; broker margin easily dwarfs notional premium received.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The dollar P&amp;L numbers are per-1-contract — capital intensity is the unmodelled cost.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Tail risk: a single fat-tail event can erase years of premium. Stop-loss caps the trade-level loss but not the gap risk overnight or on weekend headlines.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Transaction-cost model is simple: 5 bps on hedge notional, mid-quote MTM, bid/ask on entry/exit. Real execution would face slippage and venue spreads.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Model risk: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EWMA — single λ, no fat-tail or asymmetry.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GARCH — symmetric, normal innovations; misses leverage effect and jumps.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Sample size: ~6 years and ~50 trades per timed strategy — wide confidence intervals around the headline Sharpe of 0.53.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Parameter risk: 144-cell sweep helps but is not a true cross-validation.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Data scope: USO ≠ WTI futures; tracking error from roll, expense ratio, and creation/redemption mechanics is not modelled.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Potential Next Steps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From a single-asset prototype to a robust, capacity-aware sleeve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Expand robustness: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Walk-forward / out-of-sample splits beyond simple subperiod cuts.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Bootstrap confidence intervals on Sharpe by resampling trades.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Improve the volatility model: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EGARCH and GJR-GARCH for the leverage effect (likely larger in equities/oil).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HAR-RV using realized variance from intraday data, if obtainable.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Heavier-tailed innovations (Student-t) inside the same arch framework.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Richer signals: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Option skew and term-structure features (vol-of-vol, contango of variance).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COT change-in-position rather than levels (momentum of speculator flows).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Use COT as a sizing input rather than a binary veto.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Execution and capital realism: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Margin-aware sizing; explicit capital base; risk budgeting per trade.</a:t>
            </a:r>
          </a:p>
          <a:p>
            <a:pPr lvl="1"/>
            <a:r>
              <a:rPr sz="1800">
                <a:solidFill>
                  <a:srgbClr val="222222"/>
                </a:solidFill>
                <a:latin typeface="Calibri"/>
              </a:rPr>
              <a:t>Slippage scaling with size and realised vol; weekend gap modelling.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Extend universe: SPY, GLD, TLT vol-selling sleeves; broader commodity vol.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274320" tIns="109728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Takeaways</a:t>
            </a:r>
          </a:p>
          <a:p>
            <a:pPr algn="l"/>
            <a:r>
              <a:rPr sz="1400">
                <a:solidFill>
                  <a:srgbClr val="CDD9E8"/>
                </a:solidFill>
                <a:latin typeface="Calibri"/>
              </a:rPr>
              <a:t>Timing matters most — and GARCH does timing better than EWMA in this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Unconditional short-vol on USO loses money over 2020–26.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Delta hedging without a timing edge converts gamma into negative P&amp;L.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EWMA timing flips the strategy from clearly losing to roughly break-even — timing is the main source of edge, not hedging.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Rolling GARCH(1,1) substantially improves on EWMA: Sharpe rises from 0.05 → 0.53, max drawdown halves, and the curve is positive in every subperiod.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Robustness sweep (108 GARCH cells) shows the result is structurally stable, not a single-point fluke; failure modes are interpretable (short window + frequent refits).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COT positioning is interesting but doesn't add value as a binary veto on top of GARCH — useful exploratory signal, not a production filter in this version.</a:t>
            </a:r>
          </a:p>
          <a:p>
            <a:pPr/>
            <a:r>
              <a:rPr sz="2000">
                <a:solidFill>
                  <a:srgbClr val="222222"/>
                </a:solidFill>
                <a:latin typeface="Calibri"/>
              </a:rPr>
              <a:t>Honest scope: the project is a forecasting study with a tradable yardstick. The volatility model quality is what drives the differences between 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MSQF · Time Series Econometrics Final Project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/>
            <a:r>
              <a:rPr sz="2200">
                <a:solidFill>
                  <a:srgbClr val="CDD9E8"/>
                </a:solidFill>
                <a:latin typeface="Calibri"/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